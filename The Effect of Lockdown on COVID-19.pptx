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Helvetica World Bold" panose="020B0604020202020204" charset="-128"/>
      <p:regular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Canva Sans Medium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Medium" panose="00000600000000000000" pitchFamily="2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03F80-430E-437C-A608-D739A7AB3FA3}" v="4" dt="2026-05-05T18:40:04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a shawky" userId="46ee6158fc586ea3" providerId="LiveId" clId="{BC861DD8-F1FD-4B66-A0F3-1FC2916558A0}"/>
    <pc:docChg chg="undo custSel modSld">
      <pc:chgData name="habiba shawky" userId="46ee6158fc586ea3" providerId="LiveId" clId="{BC861DD8-F1FD-4B66-A0F3-1FC2916558A0}" dt="2026-05-05T18:40:37.333" v="106" actId="1076"/>
      <pc:docMkLst>
        <pc:docMk/>
      </pc:docMkLst>
      <pc:sldChg chg="modSp mod">
        <pc:chgData name="habiba shawky" userId="46ee6158fc586ea3" providerId="LiveId" clId="{BC861DD8-F1FD-4B66-A0F3-1FC2916558A0}" dt="2026-05-05T18:39:04.647" v="77" actId="20577"/>
        <pc:sldMkLst>
          <pc:docMk/>
          <pc:sldMk cId="0" sldId="256"/>
        </pc:sldMkLst>
        <pc:spChg chg="mod">
          <ac:chgData name="habiba shawky" userId="46ee6158fc586ea3" providerId="LiveId" clId="{BC861DD8-F1FD-4B66-A0F3-1FC2916558A0}" dt="2026-05-05T18:39:04.647" v="77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habiba shawky" userId="46ee6158fc586ea3" providerId="LiveId" clId="{BC861DD8-F1FD-4B66-A0F3-1FC2916558A0}" dt="2026-05-05T18:04:25.405" v="56" actId="14100"/>
        <pc:sldMkLst>
          <pc:docMk/>
          <pc:sldMk cId="0" sldId="257"/>
        </pc:sldMkLst>
        <pc:spChg chg="mod">
          <ac:chgData name="habiba shawky" userId="46ee6158fc586ea3" providerId="LiveId" clId="{BC861DD8-F1FD-4B66-A0F3-1FC2916558A0}" dt="2026-05-05T18:02:27.764" v="9" actId="11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02:24.143" v="8" actId="11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02:32.420" v="10" actId="113"/>
          <ac:spMkLst>
            <pc:docMk/>
            <pc:sldMk cId="0" sldId="257"/>
            <ac:spMk id="20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03:57.492" v="50" actId="1410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04:25.405" v="56" actId="14100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habiba shawky" userId="46ee6158fc586ea3" providerId="LiveId" clId="{BC861DD8-F1FD-4B66-A0F3-1FC2916558A0}" dt="2026-05-05T18:40:37.333" v="106" actId="1076"/>
        <pc:sldMkLst>
          <pc:docMk/>
          <pc:sldMk cId="0" sldId="259"/>
        </pc:sldMkLst>
        <pc:spChg chg="mod">
          <ac:chgData name="habiba shawky" userId="46ee6158fc586ea3" providerId="LiveId" clId="{BC861DD8-F1FD-4B66-A0F3-1FC2916558A0}" dt="2026-05-05T18:01:45.140" v="5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9:16.341" v="79" actId="113"/>
          <ac:spMkLst>
            <pc:docMk/>
            <pc:sldMk cId="0" sldId="259"/>
            <ac:spMk id="3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40:37.333" v="10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40:22.209" v="102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9:52.093" v="90" actId="2711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habiba shawky" userId="46ee6158fc586ea3" providerId="LiveId" clId="{BC861DD8-F1FD-4B66-A0F3-1FC2916558A0}" dt="2026-05-05T18:38:51.428" v="75" actId="1076"/>
        <pc:sldMkLst>
          <pc:docMk/>
          <pc:sldMk cId="0" sldId="260"/>
        </pc:sldMkLst>
        <pc:spChg chg="mod">
          <ac:chgData name="habiba shawky" userId="46ee6158fc586ea3" providerId="LiveId" clId="{BC861DD8-F1FD-4B66-A0F3-1FC2916558A0}" dt="2026-05-05T18:03:15.399" v="31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03:03.876" v="29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03:18.463" v="32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8:51.428" v="75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8:37.577" v="71" actId="1076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habiba shawky" userId="46ee6158fc586ea3" providerId="LiveId" clId="{BC861DD8-F1FD-4B66-A0F3-1FC2916558A0}" dt="2026-05-05T18:38:22.851" v="69" actId="113"/>
        <pc:sldMkLst>
          <pc:docMk/>
          <pc:sldMk cId="0" sldId="261"/>
        </pc:sldMkLst>
        <pc:spChg chg="mod">
          <ac:chgData name="habiba shawky" userId="46ee6158fc586ea3" providerId="LiveId" clId="{BC861DD8-F1FD-4B66-A0F3-1FC2916558A0}" dt="2026-05-05T18:03:31.885" v="47" actId="313"/>
          <ac:spMkLst>
            <pc:docMk/>
            <pc:sldMk cId="0" sldId="261"/>
            <ac:spMk id="4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8:14.378" v="67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8:22.851" v="69" actId="113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habiba shawky" userId="46ee6158fc586ea3" providerId="LiveId" clId="{BC861DD8-F1FD-4B66-A0F3-1FC2916558A0}" dt="2026-05-05T18:37:56.110" v="64" actId="14100"/>
        <pc:sldMkLst>
          <pc:docMk/>
          <pc:sldMk cId="0" sldId="263"/>
        </pc:sldMkLst>
        <pc:spChg chg="mod">
          <ac:chgData name="habiba shawky" userId="46ee6158fc586ea3" providerId="LiveId" clId="{BC861DD8-F1FD-4B66-A0F3-1FC2916558A0}" dt="2026-05-05T18:37:56.110" v="64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6:52.491" v="60" actId="113"/>
          <ac:spMkLst>
            <pc:docMk/>
            <pc:sldMk cId="0" sldId="263"/>
            <ac:spMk id="5" creationId="{00000000-0000-0000-0000-000000000000}"/>
          </ac:spMkLst>
        </pc:spChg>
        <pc:spChg chg="mod">
          <ac:chgData name="habiba shawky" userId="46ee6158fc586ea3" providerId="LiveId" clId="{BC861DD8-F1FD-4B66-A0F3-1FC2916558A0}" dt="2026-05-05T18:36:59.969" v="62" actId="113"/>
          <ac:spMkLst>
            <pc:docMk/>
            <pc:sldMk cId="0" sldId="263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2391568"/>
            <a:ext cx="18288000" cy="374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-21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Effect of Lockdown on COVID-19 Cases and Death Trends in Egypt</a:t>
            </a:r>
          </a:p>
          <a:p>
            <a:pPr algn="ctr">
              <a:lnSpc>
                <a:spcPts val="11797"/>
              </a:lnSpc>
              <a:spcBef>
                <a:spcPct val="0"/>
              </a:spcBef>
            </a:pPr>
            <a:endParaRPr lang="en-US" sz="6000" b="1" spc="-21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409" y="5067300"/>
            <a:ext cx="8261191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2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Analysis from:  March to May 2020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7619" y="6243471"/>
            <a:ext cx="5241932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spc="-115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17,264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-105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Total confirmed 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17841" y="6760678"/>
            <a:ext cx="2835368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-11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total death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91094" y="6263473"/>
            <a:ext cx="88886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-11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764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75351" y="6780680"/>
            <a:ext cx="3258741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recovered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10664" y="6243471"/>
            <a:ext cx="102762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4807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33329" y="9210675"/>
            <a:ext cx="735467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8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Source: Egyptian Ministry of Health and Population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9A5E8E-19AD-1CF2-6167-87ECC2831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18" y="-3592"/>
            <a:ext cx="4944165" cy="1752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73089"/>
            <a:ext cx="1280342" cy="967881"/>
            <a:chOff x="0" y="0"/>
            <a:chExt cx="337209" cy="2549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7209" cy="254915"/>
            </a:xfrm>
            <a:custGeom>
              <a:avLst/>
              <a:gdLst/>
              <a:ahLst/>
              <a:cxnLst/>
              <a:rect l="l" t="t" r="r" b="b"/>
              <a:pathLst>
                <a:path w="337209" h="254915">
                  <a:moveTo>
                    <a:pt x="0" y="0"/>
                  </a:moveTo>
                  <a:lnTo>
                    <a:pt x="337209" y="0"/>
                  </a:lnTo>
                  <a:lnTo>
                    <a:pt x="337209" y="254915"/>
                  </a:lnTo>
                  <a:lnTo>
                    <a:pt x="0" y="254915"/>
                  </a:lnTo>
                  <a:close/>
                </a:path>
              </a:pathLst>
            </a:custGeom>
            <a:solidFill>
              <a:srgbClr val="1C1C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7209" cy="293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5"/>
                </a:lnSpc>
              </a:pPr>
              <a:r>
                <a:rPr lang="en-US" sz="2396" b="1" spc="-95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600450"/>
            <a:ext cx="1280342" cy="956368"/>
            <a:chOff x="0" y="0"/>
            <a:chExt cx="337209" cy="251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7209" cy="251883"/>
            </a:xfrm>
            <a:custGeom>
              <a:avLst/>
              <a:gdLst/>
              <a:ahLst/>
              <a:cxnLst/>
              <a:rect l="l" t="t" r="r" b="b"/>
              <a:pathLst>
                <a:path w="337209" h="251883">
                  <a:moveTo>
                    <a:pt x="0" y="0"/>
                  </a:moveTo>
                  <a:lnTo>
                    <a:pt x="337209" y="0"/>
                  </a:lnTo>
                  <a:lnTo>
                    <a:pt x="337209" y="251883"/>
                  </a:lnTo>
                  <a:lnTo>
                    <a:pt x="0" y="251883"/>
                  </a:lnTo>
                  <a:close/>
                </a:path>
              </a:pathLst>
            </a:custGeom>
            <a:solidFill>
              <a:srgbClr val="1C1C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37209" cy="280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5"/>
                </a:lnSpc>
              </a:pPr>
              <a:r>
                <a:rPr lang="en-US" sz="1596" b="1" spc="-63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397" y="4918768"/>
            <a:ext cx="1231945" cy="974840"/>
            <a:chOff x="0" y="0"/>
            <a:chExt cx="324463" cy="2567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4463" cy="256748"/>
            </a:xfrm>
            <a:custGeom>
              <a:avLst/>
              <a:gdLst/>
              <a:ahLst/>
              <a:cxnLst/>
              <a:rect l="l" t="t" r="r" b="b"/>
              <a:pathLst>
                <a:path w="324463" h="256748">
                  <a:moveTo>
                    <a:pt x="0" y="0"/>
                  </a:moveTo>
                  <a:lnTo>
                    <a:pt x="324463" y="0"/>
                  </a:lnTo>
                  <a:lnTo>
                    <a:pt x="324463" y="256748"/>
                  </a:lnTo>
                  <a:lnTo>
                    <a:pt x="0" y="256748"/>
                  </a:lnTo>
                  <a:close/>
                </a:path>
              </a:pathLst>
            </a:custGeom>
            <a:solidFill>
              <a:srgbClr val="1C1C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24463" cy="285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5"/>
                </a:lnSpc>
              </a:pPr>
              <a:r>
                <a:rPr lang="en-US" sz="1596" b="1" spc="-63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255559"/>
            <a:ext cx="1280342" cy="975326"/>
            <a:chOff x="0" y="0"/>
            <a:chExt cx="337209" cy="2568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7209" cy="256876"/>
            </a:xfrm>
            <a:custGeom>
              <a:avLst/>
              <a:gdLst/>
              <a:ahLst/>
              <a:cxnLst/>
              <a:rect l="l" t="t" r="r" b="b"/>
              <a:pathLst>
                <a:path w="337209" h="256876">
                  <a:moveTo>
                    <a:pt x="0" y="0"/>
                  </a:moveTo>
                  <a:lnTo>
                    <a:pt x="337209" y="0"/>
                  </a:lnTo>
                  <a:lnTo>
                    <a:pt x="337209" y="256876"/>
                  </a:lnTo>
                  <a:lnTo>
                    <a:pt x="0" y="256876"/>
                  </a:lnTo>
                  <a:close/>
                </a:path>
              </a:pathLst>
            </a:custGeom>
            <a:solidFill>
              <a:srgbClr val="1C1C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37209" cy="28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5"/>
                </a:lnSpc>
              </a:pPr>
              <a:r>
                <a:rPr lang="en-US" sz="1596" b="1" spc="-63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088" y="7592835"/>
            <a:ext cx="1199254" cy="998290"/>
            <a:chOff x="0" y="0"/>
            <a:chExt cx="315853" cy="2629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5853" cy="262924"/>
            </a:xfrm>
            <a:custGeom>
              <a:avLst/>
              <a:gdLst/>
              <a:ahLst/>
              <a:cxnLst/>
              <a:rect l="l" t="t" r="r" b="b"/>
              <a:pathLst>
                <a:path w="315853" h="262924">
                  <a:moveTo>
                    <a:pt x="0" y="0"/>
                  </a:moveTo>
                  <a:lnTo>
                    <a:pt x="315853" y="0"/>
                  </a:lnTo>
                  <a:lnTo>
                    <a:pt x="315853" y="262924"/>
                  </a:lnTo>
                  <a:lnTo>
                    <a:pt x="0" y="262924"/>
                  </a:lnTo>
                  <a:close/>
                </a:path>
              </a:pathLst>
            </a:custGeom>
            <a:solidFill>
              <a:srgbClr val="1C1C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15853" cy="291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5"/>
                </a:lnSpc>
              </a:pPr>
              <a:r>
                <a:rPr lang="en-US" sz="1596" b="1" spc="-63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0" y="758734"/>
            <a:ext cx="54263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1004" y="2378190"/>
            <a:ext cx="27276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Introduction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27883" y="3755102"/>
            <a:ext cx="4958717" cy="1189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600" spc="-207" dirty="0">
                <a:solidFill>
                  <a:srgbClr val="FFFFFF"/>
                </a:solidFill>
                <a:latin typeface="Canva Sans" panose="020B0604020202020204" charset="0"/>
                <a:ea typeface="Montserrat Medium"/>
                <a:cs typeface="Montserrat Medium"/>
                <a:sym typeface="Montserrat Medium"/>
              </a:rPr>
              <a:t>Hypothesis Testing result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033553" y="5135592"/>
            <a:ext cx="542636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visualization and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6401" y="6516082"/>
            <a:ext cx="4343401" cy="1189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potential issues</a:t>
            </a:r>
          </a:p>
          <a:p>
            <a:pPr algn="ctr">
              <a:lnSpc>
                <a:spcPts val="4759"/>
              </a:lnSpc>
            </a:pPr>
            <a:endParaRPr lang="en-US" sz="3399" b="1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47801" y="7829897"/>
            <a:ext cx="365759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93914" y="-730049"/>
            <a:ext cx="6694086" cy="11017049"/>
          </a:xfrm>
          <a:custGeom>
            <a:avLst/>
            <a:gdLst/>
            <a:ahLst/>
            <a:cxnLst/>
            <a:rect l="l" t="t" r="r" b="b"/>
            <a:pathLst>
              <a:path w="6694086" h="11017049">
                <a:moveTo>
                  <a:pt x="0" y="0"/>
                </a:moveTo>
                <a:lnTo>
                  <a:pt x="6694086" y="0"/>
                </a:lnTo>
                <a:lnTo>
                  <a:pt x="6694086" y="11017049"/>
                </a:lnTo>
                <a:lnTo>
                  <a:pt x="0" y="11017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627" r="-226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547052"/>
            <a:ext cx="3898702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20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4940" y="2276690"/>
            <a:ext cx="16461523" cy="437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084" spc="-12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rapid spread of COVID-19 has significantly impacted public health systems worldwide. Egypt, like many countries, implemented various measures such as lockdowns to control  the spread of the virus.</a:t>
            </a:r>
          </a:p>
          <a:p>
            <a:pPr algn="ctr">
              <a:lnSpc>
                <a:spcPts val="4318"/>
              </a:lnSpc>
            </a:pPr>
            <a:endParaRPr lang="en-US" sz="3084" b="1" spc="-123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4318"/>
              </a:lnSpc>
            </a:pPr>
            <a:r>
              <a:rPr lang="en-US" sz="3084" spc="-12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Daily records from March 1 to May 24, 2020 (85 days). </a:t>
            </a:r>
          </a:p>
          <a:p>
            <a:pPr algn="l">
              <a:lnSpc>
                <a:spcPts val="4318"/>
              </a:lnSpc>
            </a:pPr>
            <a:r>
              <a:rPr lang="en-US" sz="3084" spc="-12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Includes confirmed cases, deaths, recoveries, hospitalizations, </a:t>
            </a:r>
          </a:p>
          <a:p>
            <a:pPr algn="l">
              <a:lnSpc>
                <a:spcPts val="4318"/>
              </a:lnSpc>
            </a:pPr>
            <a:r>
              <a:rPr lang="en-US" sz="3084" spc="-12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lockdown status.</a:t>
            </a:r>
          </a:p>
          <a:p>
            <a:pPr algn="l">
              <a:lnSpc>
                <a:spcPts val="4318"/>
              </a:lnSpc>
              <a:spcBef>
                <a:spcPct val="0"/>
              </a:spcBef>
            </a:pPr>
            <a:endParaRPr lang="en-US" sz="3084" spc="-12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2" y="547052"/>
            <a:ext cx="9804724" cy="877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207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Hypothesis Testing result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3105" y="2050087"/>
            <a:ext cx="8820895" cy="586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8"/>
              </a:lnSpc>
              <a:spcBef>
                <a:spcPct val="0"/>
              </a:spcBef>
            </a:pPr>
            <a:r>
              <a:rPr lang="en-US" sz="3598" spc="-143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Hypothesis 1:</a:t>
            </a:r>
          </a:p>
          <a:p>
            <a:pPr algn="just">
              <a:lnSpc>
                <a:spcPts val="4318"/>
              </a:lnSpc>
              <a:spcBef>
                <a:spcPct val="0"/>
              </a:spcBef>
            </a:pPr>
            <a:r>
              <a:rPr lang="en-US" sz="3084" spc="-123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 H₀: There is no statistically  significant difference in new confirmed cases during lockdown vs</a:t>
            </a:r>
          </a:p>
          <a:p>
            <a:pPr algn="just">
              <a:lnSpc>
                <a:spcPts val="4318"/>
              </a:lnSpc>
              <a:spcBef>
                <a:spcPct val="0"/>
              </a:spcBef>
            </a:pPr>
            <a:r>
              <a:rPr lang="en-US" sz="3084" spc="-123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non-lockdown periods.</a:t>
            </a:r>
          </a:p>
          <a:p>
            <a:pPr algn="just">
              <a:lnSpc>
                <a:spcPts val="4318"/>
              </a:lnSpc>
              <a:spcBef>
                <a:spcPct val="0"/>
              </a:spcBef>
            </a:pPr>
            <a:endParaRPr lang="en-US" sz="3084" spc="-123" dirty="0">
              <a:solidFill>
                <a:srgbClr val="FFFFFF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4318"/>
              </a:lnSpc>
              <a:spcBef>
                <a:spcPct val="0"/>
              </a:spcBef>
            </a:pPr>
            <a:r>
              <a:rPr lang="en-US" sz="3084" spc="-123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H₁: New confirmed cases are significantly lower during lockdown periods.</a:t>
            </a:r>
          </a:p>
          <a:p>
            <a:pPr algn="just">
              <a:lnSpc>
                <a:spcPts val="5182"/>
              </a:lnSpc>
              <a:spcBef>
                <a:spcPct val="0"/>
              </a:spcBef>
            </a:pPr>
            <a:endParaRPr lang="en-US" sz="3084" b="1" spc="-123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5182"/>
              </a:lnSpc>
              <a:spcBef>
                <a:spcPct val="0"/>
              </a:spcBef>
            </a:pPr>
            <a:endParaRPr lang="en-US" sz="3084" b="1" spc="-123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5038"/>
              </a:lnSpc>
              <a:spcBef>
                <a:spcPct val="0"/>
              </a:spcBef>
            </a:pPr>
            <a:endParaRPr lang="en-US" sz="3084" b="1" spc="-123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617889" y="2116762"/>
            <a:ext cx="8837689" cy="536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37"/>
              </a:lnSpc>
            </a:pPr>
            <a:r>
              <a:rPr lang="en-US" sz="3169" spc="-12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Hypothesis 2:</a:t>
            </a:r>
          </a:p>
          <a:p>
            <a:pPr>
              <a:lnSpc>
                <a:spcPts val="4437"/>
              </a:lnSpc>
            </a:pPr>
            <a:r>
              <a:rPr lang="en-US" sz="3169" spc="-12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 H₀: There is no significant correlation between daily new confirmed cases and daily new</a:t>
            </a:r>
          </a:p>
          <a:p>
            <a:pPr>
              <a:lnSpc>
                <a:spcPts val="4437"/>
              </a:lnSpc>
            </a:pPr>
            <a:r>
              <a:rPr lang="en-US" sz="3169" spc="-12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deaths.</a:t>
            </a:r>
          </a:p>
          <a:p>
            <a:pPr>
              <a:lnSpc>
                <a:spcPts val="4437"/>
              </a:lnSpc>
            </a:pPr>
            <a:endParaRPr lang="en-US" sz="3169" spc="-126" dirty="0">
              <a:solidFill>
                <a:srgbClr val="FFFFFF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  <a:p>
            <a:pPr>
              <a:lnSpc>
                <a:spcPts val="4437"/>
              </a:lnSpc>
            </a:pPr>
            <a:r>
              <a:rPr lang="en-US" sz="3169" spc="-12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H₁: There is a significant positive correlation between new confirmed cases and new</a:t>
            </a:r>
          </a:p>
          <a:p>
            <a:pPr>
              <a:lnSpc>
                <a:spcPts val="4437"/>
              </a:lnSpc>
            </a:pPr>
            <a:r>
              <a:rPr lang="en-US" sz="3169" spc="-12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deaths</a:t>
            </a:r>
          </a:p>
          <a:p>
            <a:pPr algn="ctr">
              <a:lnSpc>
                <a:spcPts val="4437"/>
              </a:lnSpc>
            </a:pPr>
            <a:endParaRPr lang="en-US" sz="3169" b="1" spc="-126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ctr">
              <a:lnSpc>
                <a:spcPts val="2361"/>
              </a:lnSpc>
              <a:spcBef>
                <a:spcPct val="0"/>
              </a:spcBef>
            </a:pPr>
            <a:endParaRPr lang="en-US" sz="3169" b="1" spc="-126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68639" y="6955419"/>
            <a:ext cx="7071105" cy="322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Test: Pearson correlation coefficient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+mj-lt"/>
                <a:ea typeface="Canva Sans Medium"/>
                <a:cs typeface="Canva Sans Medium"/>
                <a:sym typeface="Canva Sans Medium"/>
              </a:rPr>
              <a:t>Correlation: 0.7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chemeClr val="bg1"/>
                </a:solidFill>
                <a:latin typeface="+mj-lt"/>
                <a:ea typeface="Canva Sans Medium"/>
                <a:cs typeface="Canva Sans Medium"/>
                <a:sym typeface="Canva Sans Medium"/>
              </a:rPr>
              <a:t>P-value</a:t>
            </a:r>
            <a:r>
              <a:rPr lang="en-US" sz="2400" dirty="0">
                <a:solidFill>
                  <a:schemeClr val="bg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1.2859892882614822e-17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chemeClr val="bg1"/>
                </a:solidFill>
              </a:rPr>
              <a:t>P&lt;0.05</a:t>
            </a:r>
          </a:p>
          <a:p>
            <a:pPr algn="ctr">
              <a:lnSpc>
                <a:spcPts val="3359"/>
              </a:lnSpc>
            </a:pPr>
            <a:endParaRPr lang="en-US" sz="2400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Reject H₀ - significant correlation exists</a:t>
            </a:r>
          </a:p>
          <a:p>
            <a:pPr algn="ctr">
              <a:lnSpc>
                <a:spcPts val="4339"/>
              </a:lnSpc>
            </a:pPr>
            <a:endParaRPr lang="en-US" sz="2400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9380944" y="2116762"/>
            <a:ext cx="0" cy="731386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23105" y="6934525"/>
            <a:ext cx="7952939" cy="322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 spc="-12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Test: T-test</a:t>
            </a:r>
          </a:p>
          <a:p>
            <a:pPr algn="ctr">
              <a:lnSpc>
                <a:spcPts val="3360"/>
              </a:lnSpc>
            </a:pPr>
            <a:r>
              <a:rPr lang="en-US" sz="2400" spc="-9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t-test=6.08</a:t>
            </a:r>
          </a:p>
          <a:p>
            <a:pPr algn="ctr">
              <a:lnSpc>
                <a:spcPts val="3360"/>
              </a:lnSpc>
            </a:pPr>
            <a:r>
              <a:rPr lang="en-US" sz="2400" spc="-96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p-value=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3.382821785409008e-08</a:t>
            </a:r>
          </a:p>
          <a:p>
            <a:pPr algn="ctr">
              <a:lnSpc>
                <a:spcPts val="3360"/>
              </a:lnSpc>
            </a:pPr>
            <a:r>
              <a:rPr lang="en-US" sz="2400" dirty="0">
                <a:solidFill>
                  <a:schemeClr val="bg1"/>
                </a:solidFill>
              </a:rPr>
              <a:t>P&lt;0.05</a:t>
            </a:r>
          </a:p>
          <a:p>
            <a:pPr algn="ctr">
              <a:lnSpc>
                <a:spcPts val="3360"/>
              </a:lnSpc>
            </a:pPr>
            <a:endParaRPr lang="en-US" sz="2400" b="1" spc="-96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ctr">
              <a:lnSpc>
                <a:spcPts val="3360"/>
              </a:lnSpc>
            </a:pPr>
            <a:r>
              <a:rPr lang="en-US" sz="2400" b="1" spc="-96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Reject H₀ - significant difference exists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2400" b="1" spc="-96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874612"/>
            <a:ext cx="8590179" cy="5852059"/>
          </a:xfrm>
          <a:custGeom>
            <a:avLst/>
            <a:gdLst/>
            <a:ahLst/>
            <a:cxnLst/>
            <a:rect l="l" t="t" r="r" b="b"/>
            <a:pathLst>
              <a:path w="8590179" h="5852059">
                <a:moveTo>
                  <a:pt x="0" y="0"/>
                </a:moveTo>
                <a:lnTo>
                  <a:pt x="8590179" y="0"/>
                </a:lnTo>
                <a:lnTo>
                  <a:pt x="8590179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3715" y="1874612"/>
            <a:ext cx="8155128" cy="5852059"/>
          </a:xfrm>
          <a:custGeom>
            <a:avLst/>
            <a:gdLst/>
            <a:ahLst/>
            <a:cxnLst/>
            <a:rect l="l" t="t" r="r" b="b"/>
            <a:pathLst>
              <a:path w="8155128" h="5852059">
                <a:moveTo>
                  <a:pt x="0" y="0"/>
                </a:moveTo>
                <a:lnTo>
                  <a:pt x="8155128" y="0"/>
                </a:lnTo>
                <a:lnTo>
                  <a:pt x="8155128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0216" y="400088"/>
            <a:ext cx="10050184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Visualization and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531" y="8079722"/>
            <a:ext cx="8702558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91" dirty="0">
                <a:solidFill>
                  <a:srgbClr val="FFFFFF"/>
                </a:solidFill>
                <a:latin typeface="+mj-lt"/>
                <a:ea typeface="Helvetica World"/>
                <a:cs typeface="Helvetica World"/>
                <a:sym typeface="Helvetica World"/>
              </a:rPr>
              <a:t>This shows that lockdown has a strong impact on the number of new confirmed cases, as there is a clear difference between lockdown and non-lockdown periods</a:t>
            </a:r>
            <a:r>
              <a:rPr lang="en-US" sz="2600" spc="-91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67089" y="7994641"/>
            <a:ext cx="9144000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-91" dirty="0">
                <a:solidFill>
                  <a:srgbClr val="FFFFFF"/>
                </a:solidFill>
                <a:latin typeface="+mj-lt"/>
                <a:ea typeface="Helvetica World"/>
                <a:cs typeface="Helvetica World"/>
                <a:sym typeface="Helvetica World"/>
              </a:rPr>
              <a:t>According to the boxplot, the number of new confirmed cases appears to be higher during the lockdown period compared to the non-lockdown period. This suggests that the lockdown did not correspond with a decrease in cases.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 spc="-91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9358" y="1398497"/>
            <a:ext cx="7837005" cy="5768907"/>
          </a:xfrm>
          <a:custGeom>
            <a:avLst/>
            <a:gdLst/>
            <a:ahLst/>
            <a:cxnLst/>
            <a:rect l="l" t="t" r="r" b="b"/>
            <a:pathLst>
              <a:path w="7837005" h="5768907">
                <a:moveTo>
                  <a:pt x="0" y="0"/>
                </a:moveTo>
                <a:lnTo>
                  <a:pt x="7837006" y="0"/>
                </a:lnTo>
                <a:lnTo>
                  <a:pt x="7837006" y="5768907"/>
                </a:lnTo>
                <a:lnTo>
                  <a:pt x="0" y="5768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358828" y="1398497"/>
            <a:ext cx="7763762" cy="5768907"/>
          </a:xfrm>
          <a:custGeom>
            <a:avLst/>
            <a:gdLst/>
            <a:ahLst/>
            <a:cxnLst/>
            <a:rect l="l" t="t" r="r" b="b"/>
            <a:pathLst>
              <a:path w="7763762" h="5768907">
                <a:moveTo>
                  <a:pt x="0" y="0"/>
                </a:moveTo>
                <a:lnTo>
                  <a:pt x="7763762" y="0"/>
                </a:lnTo>
                <a:lnTo>
                  <a:pt x="7763762" y="5768907"/>
                </a:lnTo>
                <a:lnTo>
                  <a:pt x="0" y="5768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0216" y="400088"/>
            <a:ext cx="10050184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Visualization and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03201" y="7935384"/>
            <a:ext cx="9247201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spc="-124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There is a positive linear relationship between new confirmed cases and deaths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99760" y="7782708"/>
            <a:ext cx="8256532" cy="1069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spc="-123" dirty="0">
                <a:solidFill>
                  <a:srgbClr val="FFFFFF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initial was zero the cases was zero as time passes virus started spreading more and death rate increases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7416" y="537527"/>
            <a:ext cx="6319184" cy="887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potential issues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7416" y="2033905"/>
            <a:ext cx="16074582" cy="722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1)Small dataset size (85 observations)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2)Limited Variables(cases, deaths, recoveries, lockdown, etc.). This can lead to omitted variable bias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3)Correlation ≠ Causation: correlation does not imply causation, meaning that a relationship between two variables does not necessarily indicate that one causes the other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4)Lockdown Variable Simplification: The lockdown variable is treated as a simple Yes/No value.</a:t>
            </a:r>
          </a:p>
          <a:p>
            <a:pPr algn="just">
              <a:lnSpc>
                <a:spcPts val="4480"/>
              </a:lnSpc>
            </a:pPr>
            <a:endParaRPr lang="en-US" sz="3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5)Limited Hypothesis Testing: small number of hypotheses were formally tested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860002" y="8551330"/>
            <a:ext cx="1399298" cy="628412"/>
          </a:xfrm>
          <a:custGeom>
            <a:avLst/>
            <a:gdLst/>
            <a:ahLst/>
            <a:cxnLst/>
            <a:rect l="l" t="t" r="r" b="b"/>
            <a:pathLst>
              <a:path w="1399298" h="628412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547052"/>
            <a:ext cx="3390900" cy="877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207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2910" y="1897784"/>
            <a:ext cx="17965090" cy="408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1"/>
              </a:lnSpc>
              <a:spcBef>
                <a:spcPct val="0"/>
              </a:spcBef>
            </a:pPr>
            <a:r>
              <a:rPr lang="en-US" sz="3279" spc="-131" dirty="0">
                <a:solidFill>
                  <a:srgbClr val="FFFFFF"/>
                </a:solidFill>
                <a:latin typeface="Canva Sans" panose="020B0604020202020204" charset="0"/>
                <a:ea typeface="Montserrat Medium"/>
                <a:cs typeface="Montserrat Medium"/>
                <a:sym typeface="Montserrat Medium"/>
              </a:rPr>
              <a:t>This study confirms that lockdown measures in Egypt significantly changed the trend of daily COVID-19 cases. </a:t>
            </a:r>
          </a:p>
          <a:p>
            <a:pPr algn="l">
              <a:lnSpc>
                <a:spcPts val="4591"/>
              </a:lnSpc>
              <a:spcBef>
                <a:spcPct val="0"/>
              </a:spcBef>
            </a:pPr>
            <a:r>
              <a:rPr lang="en-US" sz="3279" spc="-131" dirty="0">
                <a:solidFill>
                  <a:srgbClr val="FFFFFF"/>
                </a:solidFill>
                <a:latin typeface="Canva Sans" panose="020B0604020202020204" charset="0"/>
                <a:ea typeface="Montserrat Medium"/>
                <a:cs typeface="Montserrat Medium"/>
                <a:sym typeface="Montserrat Medium"/>
              </a:rPr>
              <a:t>The results of the t-test showed a statistically significant difference in the number of daily confirmed cases between lockdown and non-lockdown periods, </a:t>
            </a:r>
            <a:r>
              <a:rPr lang="en-US" sz="3279" spc="-131" dirty="0">
                <a:solidFill>
                  <a:srgbClr val="FFFFFF"/>
                </a:solidFill>
                <a:latin typeface="Canva Sans" panose="020B0604020202020204" charset="0"/>
                <a:ea typeface="Montserrat Bold"/>
                <a:cs typeface="Montserrat Bold"/>
                <a:sym typeface="Montserrat Bold"/>
              </a:rPr>
              <a:t>leading to the rejection of the null hypothesis</a:t>
            </a:r>
            <a:r>
              <a:rPr lang="en-US" sz="3279" spc="-131" dirty="0">
                <a:solidFill>
                  <a:srgbClr val="FFFFFF"/>
                </a:solidFill>
                <a:latin typeface="Canva Sans" panose="020B0604020202020204" charset="0"/>
                <a:ea typeface="Montserrat"/>
                <a:cs typeface="Montserrat"/>
                <a:sym typeface="Montserrat"/>
              </a:rPr>
              <a:t>.</a:t>
            </a:r>
            <a:r>
              <a:rPr lang="en-US" sz="3279" spc="-131" dirty="0">
                <a:solidFill>
                  <a:srgbClr val="FFFFFF"/>
                </a:solidFill>
                <a:latin typeface="Canva Sans" panose="020B0604020202020204" charset="0"/>
                <a:ea typeface="Montserrat Medium"/>
                <a:cs typeface="Montserrat Medium"/>
                <a:sym typeface="Montserrat Medium"/>
              </a:rPr>
              <a:t> This suggests that lockdown measures had a significant effect on changing the number of new COVID-19 cases in Egypt.</a:t>
            </a:r>
          </a:p>
          <a:p>
            <a:pPr algn="l">
              <a:lnSpc>
                <a:spcPts val="4591"/>
              </a:lnSpc>
              <a:spcBef>
                <a:spcPct val="0"/>
              </a:spcBef>
            </a:pPr>
            <a:endParaRPr lang="en-US" sz="3279" b="1" spc="-13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22910" y="6327560"/>
            <a:ext cx="17506474" cy="169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spc="-127" dirty="0">
                <a:solidFill>
                  <a:srgbClr val="FFFFFF"/>
                </a:solidFill>
                <a:latin typeface="Canva Sans" panose="020B0604020202020204" charset="0"/>
                <a:ea typeface="Montserrat Medium"/>
                <a:cs typeface="Montserrat Medium"/>
                <a:sym typeface="Montserrat Medium"/>
              </a:rPr>
              <a:t> the Pearson correlation test indicated a significant positive relationship between daily confirmed cases and daily deaths.</a:t>
            </a:r>
            <a:r>
              <a:rPr lang="en-US" sz="3199" spc="-127" dirty="0">
                <a:solidFill>
                  <a:srgbClr val="FFFFFF"/>
                </a:solidFill>
                <a:latin typeface="Canva Sans" panose="020B0604020202020204" charset="0"/>
                <a:ea typeface="Montserrat Bold"/>
                <a:cs typeface="Montserrat Bold"/>
                <a:sym typeface="Montserrat Bold"/>
              </a:rPr>
              <a:t> As a result, the null hypothesis was also rejected for the second test</a:t>
            </a:r>
            <a:r>
              <a:rPr lang="en-US" sz="3199" spc="-127" dirty="0">
                <a:solidFill>
                  <a:srgbClr val="FFFFFF"/>
                </a:solidFill>
                <a:latin typeface="Canva Sans" panose="020B0604020202020204" charset="0"/>
                <a:ea typeface="Montserrat Medium"/>
                <a:cs typeface="Montserrat Medium"/>
                <a:sym typeface="Montserrat Medium"/>
              </a:rPr>
              <a:t>, meaning that increases in confirmed cases are associated with increases in deaths.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544</Words>
  <Application>Microsoft Office PowerPoint</Application>
  <PresentationFormat>Custom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Canva Sans</vt:lpstr>
      <vt:lpstr>Montserrat Medium</vt:lpstr>
      <vt:lpstr>Montserrat</vt:lpstr>
      <vt:lpstr>Canva Sans Medium</vt:lpstr>
      <vt:lpstr>Arial</vt:lpstr>
      <vt:lpstr>Helvetica World Bold</vt:lpstr>
      <vt:lpstr>Calibri</vt:lpstr>
      <vt:lpstr>Canva Sans Bold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Healthcare Medical Presentation</dc:title>
  <dc:creator>habiba shawky</dc:creator>
  <cp:lastModifiedBy>habiba shawky</cp:lastModifiedBy>
  <cp:revision>6</cp:revision>
  <dcterms:created xsi:type="dcterms:W3CDTF">2006-08-16T00:00:00Z</dcterms:created>
  <dcterms:modified xsi:type="dcterms:W3CDTF">2026-05-05T18:44:33Z</dcterms:modified>
  <dc:identifier>DAHIz02U_zc</dc:identifier>
</cp:coreProperties>
</file>